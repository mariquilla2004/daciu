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l" defTabSz="584200" rtl="0" fontAlgn="auto" latinLnBrk="0" hangingPunct="0">
      <a:lnSpc>
        <a:spcPct val="120000"/>
      </a:lnSpc>
      <a:spcBef>
        <a:spcPts val="4600"/>
      </a:spcBef>
      <a:spcAft>
        <a:spcPts val="0"/>
      </a:spcAft>
      <a:buClrTx/>
      <a:buSzTx/>
      <a:buFontTx/>
      <a:buNone/>
      <a:tabLst/>
      <a:defRPr b="0" baseline="0" cap="none" i="0" spc="0" strike="noStrike" sz="46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/>
          <p:nvPr>
            <p:ph type="title"/>
          </p:nvPr>
        </p:nvSpPr>
        <p:spPr>
          <a:xfrm>
            <a:off x="355600" y="2044700"/>
            <a:ext cx="12293600" cy="32385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sz="quarter" idx="1"/>
          </p:nvPr>
        </p:nvSpPr>
        <p:spPr>
          <a:xfrm>
            <a:off x="355600" y="5270500"/>
            <a:ext cx="12293600" cy="12954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sta de perfil de una motocicleta Ducati roja"/>
          <p:cNvSpPr/>
          <p:nvPr>
            <p:ph type="pic" idx="21"/>
          </p:nvPr>
        </p:nvSpPr>
        <p:spPr>
          <a:xfrm>
            <a:off x="1258743" y="-673100"/>
            <a:ext cx="10390144" cy="777732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el título"/>
          <p:cNvSpPr txBox="1"/>
          <p:nvPr>
            <p:ph type="title"/>
          </p:nvPr>
        </p:nvSpPr>
        <p:spPr>
          <a:xfrm>
            <a:off x="1270000" y="6908800"/>
            <a:ext cx="10464800" cy="1282700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22" name="Nivel de texto 1…"/>
          <p:cNvSpPr txBox="1"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(cent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el título"/>
          <p:cNvSpPr txBox="1"/>
          <p:nvPr>
            <p:ph type="title"/>
          </p:nvPr>
        </p:nvSpPr>
        <p:spPr>
          <a:xfrm>
            <a:off x="355600" y="3251200"/>
            <a:ext cx="12293600" cy="3238500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ista frontal de una motocicleta Ducati roja"/>
          <p:cNvSpPr/>
          <p:nvPr>
            <p:ph type="pic" idx="21"/>
          </p:nvPr>
        </p:nvSpPr>
        <p:spPr>
          <a:xfrm>
            <a:off x="5351574" y="1384300"/>
            <a:ext cx="7872413" cy="6997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el título"/>
          <p:cNvSpPr txBox="1"/>
          <p:nvPr>
            <p:ph type="title"/>
          </p:nvPr>
        </p:nvSpPr>
        <p:spPr>
          <a:xfrm>
            <a:off x="355600" y="1016000"/>
            <a:ext cx="5892800" cy="38862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40" name="Nivel de texto 1…"/>
          <p:cNvSpPr txBox="1"/>
          <p:nvPr>
            <p:ph type="body" sz="quarter" idx="1"/>
          </p:nvPr>
        </p:nvSpPr>
        <p:spPr>
          <a:xfrm>
            <a:off x="355600" y="4889500"/>
            <a:ext cx="5892800" cy="3886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7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520700" indent="-520700">
              <a:lnSpc>
                <a:spcPct val="120000"/>
              </a:lnSpc>
              <a:spcBef>
                <a:spcPts val="4600"/>
              </a:spcBef>
              <a:defRPr sz="4600"/>
            </a:lvl1pPr>
            <a:lvl2pPr marL="1041400" indent="-520700">
              <a:lnSpc>
                <a:spcPct val="120000"/>
              </a:lnSpc>
              <a:spcBef>
                <a:spcPts val="4600"/>
              </a:spcBef>
              <a:defRPr sz="4600"/>
            </a:lvl2pPr>
            <a:lvl3pPr marL="1562100" indent="-520700">
              <a:lnSpc>
                <a:spcPct val="120000"/>
              </a:lnSpc>
              <a:spcBef>
                <a:spcPts val="4600"/>
              </a:spcBef>
              <a:defRPr sz="4600"/>
            </a:lvl3pPr>
            <a:lvl4pPr marL="2082800" indent="-520700">
              <a:lnSpc>
                <a:spcPct val="120000"/>
              </a:lnSpc>
              <a:spcBef>
                <a:spcPts val="4600"/>
              </a:spcBef>
              <a:defRPr sz="4600"/>
            </a:lvl4pPr>
            <a:lvl5pPr marL="2603500" indent="-520700">
              <a:lnSpc>
                <a:spcPct val="120000"/>
              </a:lnSpc>
              <a:spcBef>
                <a:spcPts val="4600"/>
              </a:spcBef>
              <a:defRPr sz="46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ista frontal de una motocicleta Ducati roja"/>
          <p:cNvSpPr/>
          <p:nvPr>
            <p:ph type="pic" idx="21"/>
          </p:nvPr>
        </p:nvSpPr>
        <p:spPr>
          <a:xfrm>
            <a:off x="5493159" y="2743200"/>
            <a:ext cx="7889605" cy="70129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67" name="Nivel de texto 1…"/>
          <p:cNvSpPr txBox="1"/>
          <p:nvPr>
            <p:ph type="body" sz="half" idx="1"/>
          </p:nvPr>
        </p:nvSpPr>
        <p:spPr>
          <a:xfrm>
            <a:off x="355600" y="2730500"/>
            <a:ext cx="5892800" cy="6299200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76" name="Nivel de texto 1…"/>
          <p:cNvSpPr txBox="1"/>
          <p:nvPr>
            <p:ph type="body" sz="half" idx="1"/>
          </p:nvPr>
        </p:nvSpPr>
        <p:spPr>
          <a:xfrm>
            <a:off x="355600" y="2730500"/>
            <a:ext cx="5892800" cy="6299200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85" name="Nivel de texto 1…"/>
          <p:cNvSpPr txBox="1"/>
          <p:nvPr>
            <p:ph type="body" sz="half" idx="1"/>
          </p:nvPr>
        </p:nvSpPr>
        <p:spPr>
          <a:xfrm>
            <a:off x="355600" y="2730500"/>
            <a:ext cx="5892800" cy="6299200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Nivel de texto 1…"/>
          <p:cNvSpPr txBox="1"/>
          <p:nvPr>
            <p:ph type="body" idx="1"/>
          </p:nvPr>
        </p:nvSpPr>
        <p:spPr>
          <a:xfrm>
            <a:off x="762000" y="762000"/>
            <a:ext cx="11468100" cy="8216900"/>
          </a:xfrm>
          <a:prstGeom prst="rect">
            <a:avLst/>
          </a:prstGeom>
        </p:spPr>
        <p:txBody>
          <a:bodyPr/>
          <a:lstStyle>
            <a:lvl1pPr marL="520700" indent="-520700">
              <a:lnSpc>
                <a:spcPct val="120000"/>
              </a:lnSpc>
              <a:spcBef>
                <a:spcPts val="4600"/>
              </a:spcBef>
              <a:defRPr sz="4600"/>
            </a:lvl1pPr>
            <a:lvl2pPr marL="1041400" indent="-520700">
              <a:lnSpc>
                <a:spcPct val="120000"/>
              </a:lnSpc>
              <a:spcBef>
                <a:spcPts val="4600"/>
              </a:spcBef>
              <a:defRPr sz="4600"/>
            </a:lvl2pPr>
            <a:lvl3pPr marL="1562100" indent="-520700">
              <a:lnSpc>
                <a:spcPct val="120000"/>
              </a:lnSpc>
              <a:spcBef>
                <a:spcPts val="4600"/>
              </a:spcBef>
              <a:defRPr sz="4600"/>
            </a:lvl3pPr>
            <a:lvl4pPr marL="2082800" indent="-520700">
              <a:lnSpc>
                <a:spcPct val="120000"/>
              </a:lnSpc>
              <a:spcBef>
                <a:spcPts val="4600"/>
              </a:spcBef>
              <a:defRPr sz="4600"/>
            </a:lvl4pPr>
            <a:lvl5pPr marL="2603500" indent="-520700">
              <a:lnSpc>
                <a:spcPct val="120000"/>
              </a:lnSpc>
              <a:spcBef>
                <a:spcPts val="4600"/>
              </a:spcBef>
              <a:defRPr sz="46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imer plano de partes de un motor de motocicleta Ducati"/>
          <p:cNvSpPr/>
          <p:nvPr>
            <p:ph type="pic" sz="quarter" idx="21"/>
          </p:nvPr>
        </p:nvSpPr>
        <p:spPr>
          <a:xfrm>
            <a:off x="6664613" y="4965700"/>
            <a:ext cx="5803901" cy="434623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Primer plano del tapón de la gasolina de una motocicleta Ducati"/>
          <p:cNvSpPr/>
          <p:nvPr>
            <p:ph type="pic" sz="quarter" idx="22"/>
          </p:nvPr>
        </p:nvSpPr>
        <p:spPr>
          <a:xfrm>
            <a:off x="6667500" y="444500"/>
            <a:ext cx="5803900" cy="434623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Foto en blanco y negro de partes de un motor de motocicleta Ducati"/>
          <p:cNvSpPr/>
          <p:nvPr>
            <p:ph type="pic" idx="23"/>
          </p:nvPr>
        </p:nvSpPr>
        <p:spPr>
          <a:xfrm>
            <a:off x="-939561" y="482600"/>
            <a:ext cx="7995295" cy="106816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 Juan López"/>
          <p:cNvSpPr txBox="1"/>
          <p:nvPr>
            <p:ph type="body" sz="quarter" idx="21"/>
          </p:nvPr>
        </p:nvSpPr>
        <p:spPr>
          <a:xfrm>
            <a:off x="1270000" y="5689600"/>
            <a:ext cx="10464800" cy="5080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800"/>
            </a:lvl1pPr>
          </a:lstStyle>
          <a:p>
            <a:pPr/>
            <a:r>
              <a:t>– Juan López</a:t>
            </a:r>
          </a:p>
        </p:txBody>
      </p:sp>
      <p:sp>
        <p:nvSpPr>
          <p:cNvPr id="112" name="“Escribe una cita aquí”"/>
          <p:cNvSpPr txBox="1"/>
          <p:nvPr>
            <p:ph type="body" sz="quarter" idx="22"/>
          </p:nvPr>
        </p:nvSpPr>
        <p:spPr>
          <a:xfrm>
            <a:off x="1270000" y="4152900"/>
            <a:ext cx="10464800" cy="647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pPr/>
            <a:r>
              <a:t>“Escribe una cita aquí”</a:t>
            </a:r>
          </a:p>
        </p:txBody>
      </p:sp>
      <p:sp>
        <p:nvSpPr>
          <p:cNvPr id="1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sta frontal de una motocicleta Ducati roja sobre un fondo negro"/>
          <p:cNvSpPr/>
          <p:nvPr>
            <p:ph type="pic" idx="21"/>
          </p:nvPr>
        </p:nvSpPr>
        <p:spPr>
          <a:xfrm>
            <a:off x="-2552700" y="0"/>
            <a:ext cx="17339734" cy="9753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355600" y="254000"/>
            <a:ext cx="122936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355600" y="2730500"/>
            <a:ext cx="12293600" cy="629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6324600" y="9271000"/>
            <a:ext cx="342900" cy="355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7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titleStyle>
    <p:bodyStyle>
      <a:lvl1pPr marL="4318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8636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2954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17272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1590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25908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30226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34544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3886200" marR="0" indent="-4318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38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Análisis de señales neurofisiológica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Análisis de señales neurofisiológicas </a:t>
            </a:r>
          </a:p>
        </p:txBody>
      </p:sp>
      <p:sp>
        <p:nvSpPr>
          <p:cNvPr id="138" name="Estudio multimodal: BVP/PPG, GSR, Temperatura, EMG y Acelerometría.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900"/>
            </a:lvl1pPr>
          </a:lstStyle>
          <a:p>
            <a:pPr/>
            <a:r>
              <a:t>Estudio multimodal: BVP/PPG, GSR, Temperatura, EMG y Acelerometría.</a:t>
            </a:r>
          </a:p>
        </p:txBody>
      </p:sp>
      <p:sp>
        <p:nvSpPr>
          <p:cNvPr id="139" name="Dpto. de Teoría de la señal y Comunicaciones"/>
          <p:cNvSpPr txBox="1"/>
          <p:nvPr/>
        </p:nvSpPr>
        <p:spPr>
          <a:xfrm>
            <a:off x="-2612027" y="9057018"/>
            <a:ext cx="12293601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defRPr sz="2900"/>
            </a:lvl1pPr>
          </a:lstStyle>
          <a:p>
            <a:pPr/>
            <a:r>
              <a:t>Dpto. de Teoría de la señal y Comunicaciones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bvp.png" descr="bvp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967640" y="2406210"/>
            <a:ext cx="7155245" cy="5860237"/>
          </a:xfrm>
          <a:prstGeom prst="rect">
            <a:avLst/>
          </a:prstGeom>
        </p:spPr>
      </p:pic>
      <p:sp>
        <p:nvSpPr>
          <p:cNvPr id="142" name="Señal BVP/PPG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Señal BVP/PPG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sr.png" descr="gsr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967640" y="2406210"/>
            <a:ext cx="7155245" cy="5860237"/>
          </a:xfrm>
          <a:prstGeom prst="rect">
            <a:avLst/>
          </a:prstGeom>
        </p:spPr>
      </p:pic>
      <p:sp>
        <p:nvSpPr>
          <p:cNvPr id="145" name="Señal GSR"/>
          <p:cNvSpPr txBox="1"/>
          <p:nvPr>
            <p:ph type="title"/>
          </p:nvPr>
        </p:nvSpPr>
        <p:spPr>
          <a:xfrm>
            <a:off x="1269999" y="928311"/>
            <a:ext cx="10464801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Señal GSR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temp.png" descr="temp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774092" y="2406210"/>
            <a:ext cx="7542341" cy="5860237"/>
          </a:xfrm>
          <a:prstGeom prst="rect">
            <a:avLst/>
          </a:prstGeom>
        </p:spPr>
      </p:pic>
      <p:sp>
        <p:nvSpPr>
          <p:cNvPr id="148" name="Temperatura Corporal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Temperatura Corporal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emg.png" descr="emg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2604525" y="2406210"/>
            <a:ext cx="7881475" cy="5860237"/>
          </a:xfrm>
          <a:prstGeom prst="rect">
            <a:avLst/>
          </a:prstGeom>
        </p:spPr>
      </p:pic>
      <p:sp>
        <p:nvSpPr>
          <p:cNvPr id="151" name="Señal EMG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Señal EMG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u_comp.png" descr="imu_comp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50962" y="2905741"/>
            <a:ext cx="10388601" cy="4861175"/>
          </a:xfrm>
          <a:prstGeom prst="rect">
            <a:avLst/>
          </a:prstGeom>
        </p:spPr>
      </p:pic>
      <p:sp>
        <p:nvSpPr>
          <p:cNvPr id="154" name="Acelerometría Triaxial (IMU)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Acelerometría Triaxial (IMU)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Vista de perfil de una motocicleta Ducati roja" descr="Vista de perfil de una motocicleta Ducati roja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841" t="15349" r="0" b="9299"/>
          <a:stretch>
            <a:fillRect/>
          </a:stretch>
        </p:blipFill>
        <p:spPr>
          <a:xfrm>
            <a:off x="1350962" y="2406210"/>
            <a:ext cx="10302688" cy="5860237"/>
          </a:xfrm>
          <a:prstGeom prst="rect">
            <a:avLst/>
          </a:prstGeom>
        </p:spPr>
      </p:pic>
      <p:sp>
        <p:nvSpPr>
          <p:cNvPr id="157" name="Espectograma EMG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Espectograma EMG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Vista de perfil de una motocicleta Ducati roja" descr="Vista de perfil de una motocicleta Ducati roja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841" t="15349" r="0" b="9299"/>
          <a:stretch>
            <a:fillRect/>
          </a:stretch>
        </p:blipFill>
        <p:spPr>
          <a:xfrm>
            <a:off x="1350962" y="2406210"/>
            <a:ext cx="10302688" cy="5860237"/>
          </a:xfrm>
          <a:prstGeom prst="rect">
            <a:avLst/>
          </a:prstGeom>
        </p:spPr>
      </p:pic>
      <p:sp>
        <p:nvSpPr>
          <p:cNvPr id="160" name="Espectograma BVP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Espectograma BVP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pg_peaks.png" descr="ppg_peaks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50962" y="3632354"/>
            <a:ext cx="10388601" cy="3407948"/>
          </a:xfrm>
          <a:prstGeom prst="rect">
            <a:avLst/>
          </a:prstGeom>
        </p:spPr>
      </p:pic>
      <p:sp>
        <p:nvSpPr>
          <p:cNvPr id="163" name="PPG completa con picos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PPG completa con picos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pg_peaks_260.png" descr="ppg_peaks_260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50962" y="3607827"/>
            <a:ext cx="10388601" cy="3457003"/>
          </a:xfrm>
          <a:prstGeom prst="rect">
            <a:avLst/>
          </a:prstGeom>
        </p:spPr>
      </p:pic>
      <p:sp>
        <p:nvSpPr>
          <p:cNvPr id="166" name="PPG 260-280s (zoom)"/>
          <p:cNvSpPr txBox="1"/>
          <p:nvPr>
            <p:ph type="title"/>
          </p:nvPr>
        </p:nvSpPr>
        <p:spPr>
          <a:xfrm>
            <a:off x="1270000" y="928311"/>
            <a:ext cx="10464800" cy="1282701"/>
          </a:xfrm>
          <a:prstGeom prst="rect">
            <a:avLst/>
          </a:prstGeom>
        </p:spPr>
        <p:txBody>
          <a:bodyPr/>
          <a:lstStyle>
            <a:lvl1pPr>
              <a:defRPr cap="none" sz="3800"/>
            </a:lvl1pPr>
          </a:lstStyle>
          <a:p>
            <a:pPr/>
            <a:r>
              <a:t>PPG 260-280s (zoom)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20000"/>
          </a:lnSpc>
          <a:spcBef>
            <a:spcPts val="4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6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20000"/>
          </a:lnSpc>
          <a:spcBef>
            <a:spcPts val="4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6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